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customXml" Target="../customXml/item1.xml"/><Relationship Id="rId3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16" Type="http://schemas.openxmlformats.org/officeDocument/2006/relationships/slide" Target="slides/slide10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slide" Target="slides/slide5.xml"/><Relationship Id="rId5" Type="http://schemas.openxmlformats.org/officeDocument/2006/relationships/theme" Target="theme/theme1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customXml" Target="../customXml/item2.xml"/><Relationship Id="rId4" Type="http://schemas.openxmlformats.org/officeDocument/2006/relationships/viewProps" Target="viewProps.xml"/><Relationship Id="rId9" Type="http://schemas.openxmlformats.org/officeDocument/2006/relationships/slide" Target="slides/slide3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77639" cy="6858000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265176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E9E2D7"/>
                </a:solidFill>
                <a:latin typeface="Aptos"/>
              </a:rPr>
              <a:t>BT5153 Group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2743200" cy="19659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Resume-to-Job Matching for Candidate Ranking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913632"/>
            <a:ext cx="2743200" cy="10972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400" b="0">
                <a:solidFill>
                  <a:srgbClr val="E9E2D7"/>
                </a:solidFill>
                <a:latin typeface="Aptos"/>
              </a:rPr>
              <a:t>Notebook-first refactor with one main review artifact and a full end-to-end evaluation pipeline.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444752"/>
            <a:ext cx="66751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824F22"/>
                </a:solidFill>
                <a:latin typeface="Aptos"/>
              </a:rPr>
              <a:t>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901952"/>
            <a:ext cx="6492240" cy="74980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800" b="1">
                <a:solidFill>
                  <a:srgbClr val="1A2A44"/>
                </a:solidFill>
                <a:latin typeface="Aptos"/>
              </a:rPr>
              <a:t>From screening bottleneck to a practical ranking 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3127248"/>
            <a:ext cx="6858000" cy="192024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A424F"/>
                </a:solidFill>
                <a:latin typeface="Aptos"/>
              </a:defRPr>
            </a:pPr>
            <a:r>
              <a:t>Phang Beng Keong (A0028103X)</a:t>
            </a:r>
          </a:p>
          <a:p>
            <a:pPr>
              <a:spcAft>
                <a:spcPts val="800"/>
              </a:spcAft>
              <a:defRPr sz="1800">
                <a:solidFill>
                  <a:srgbClr val="3A424F"/>
                </a:solidFill>
                <a:latin typeface="Aptos"/>
              </a:defRPr>
            </a:pPr>
            <a:r>
              <a:t>Phua Zhuo Wei (A0234313U)</a:t>
            </a:r>
          </a:p>
          <a:p>
            <a:pPr>
              <a:spcAft>
                <a:spcPts val="800"/>
              </a:spcAft>
              <a:defRPr sz="1800">
                <a:solidFill>
                  <a:srgbClr val="3A424F"/>
                </a:solidFill>
                <a:latin typeface="Aptos"/>
              </a:defRPr>
            </a:pPr>
            <a:r>
              <a:t>Sakthi Ram (A0156203R)</a:t>
            </a:r>
          </a:p>
          <a:p>
            <a:pPr>
              <a:spcAft>
                <a:spcPts val="800"/>
              </a:spcAft>
              <a:defRPr sz="1800">
                <a:solidFill>
                  <a:srgbClr val="3A424F"/>
                </a:solidFill>
                <a:latin typeface="Aptos"/>
              </a:defRPr>
            </a:pPr>
            <a:r>
              <a:t>Liu Yuandong (A0297814N)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2560320" cy="82296"/>
          </a:xfrm>
          <a:prstGeom prst="rect">
            <a:avLst/>
          </a:prstGeom>
          <a:solidFill>
            <a:srgbClr val="C77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969264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Problem and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6419088"/>
            <a:ext cx="123444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900" b="0">
                <a:solidFill>
                  <a:srgbClr val="68707A"/>
                </a:solidFill>
                <a:latin typeface="Aptos"/>
              </a:rPr>
              <a:t>BT5153 Group 14  |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972800" cy="502920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3A424F"/>
                </a:solidFill>
                <a:latin typeface="Aptos"/>
              </a:defRPr>
            </a:pPr>
            <a:r>
              <a:t>Recruiters often read many resumes for each opening, so first-pass screening is slow and inconsistent.</a:t>
            </a:r>
          </a:p>
          <a:p>
            <a:pPr>
              <a:spcAft>
                <a:spcPts val="800"/>
              </a:spcAft>
              <a:defRPr sz="2200">
                <a:solidFill>
                  <a:srgbClr val="3A424F"/>
                </a:solidFill>
                <a:latin typeface="Aptos"/>
              </a:defRPr>
            </a:pPr>
            <a:r>
              <a:t>A ranking system is useful only if it surfaces relevant candidates early, stays understandable, and behaves consistently under simple perturbations.</a:t>
            </a:r>
          </a:p>
          <a:p>
            <a:pPr>
              <a:spcAft>
                <a:spcPts val="800"/>
              </a:spcAft>
              <a:defRPr sz="2200">
                <a:solidFill>
                  <a:srgbClr val="3A424F"/>
                </a:solidFill>
                <a:latin typeface="Aptos"/>
              </a:defRPr>
            </a:pPr>
            <a:r>
              <a:t>This project compares a lexical retriever, a dense semantic model, and a local LLM reranker rather than assuming that the most complex model is automatically the best choice.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2560320" cy="82296"/>
          </a:xfrm>
          <a:prstGeom prst="rect">
            <a:avLst/>
          </a:prstGeom>
          <a:solidFill>
            <a:srgbClr val="C77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969264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Data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6419088"/>
            <a:ext cx="123444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900" b="0">
                <a:solidFill>
                  <a:srgbClr val="68707A"/>
                </a:solidFill>
                <a:latin typeface="Aptos"/>
              </a:rPr>
              <a:t>BT5153 Group 14  |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24128"/>
            <a:ext cx="4937760" cy="310896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000" b="1">
                <a:solidFill>
                  <a:srgbClr val="1A2A44"/>
                </a:solidFill>
                <a:latin typeface="Aptos"/>
              </a:rPr>
              <a:t>Dataset foundation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475488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1664208"/>
            <a:ext cx="4462272" cy="25603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700" b="1">
                <a:solidFill>
                  <a:srgbClr val="824F22"/>
                </a:solidFill>
                <a:latin typeface="Aptos"/>
              </a:rPr>
              <a:t>Constructed benchmark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975104"/>
            <a:ext cx="4535424" cy="1426464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A424F"/>
                </a:solidFill>
                <a:latin typeface="Aptos"/>
              </a:defRPr>
            </a:pPr>
            <a:r>
              <a:t>Processed resumes: 1,309</a:t>
            </a:r>
          </a:p>
          <a:p>
            <a:pPr>
              <a:spcAft>
                <a:spcPts val="800"/>
              </a:spcAft>
              <a:defRPr sz="1300">
                <a:solidFill>
                  <a:srgbClr val="3A424F"/>
                </a:solidFill>
                <a:latin typeface="Aptos"/>
              </a:defRPr>
            </a:pPr>
            <a:r>
              <a:t>Processed jobs: 2,119</a:t>
            </a:r>
          </a:p>
          <a:p>
            <a:pPr>
              <a:spcAft>
                <a:spcPts val="800"/>
              </a:spcAft>
              <a:defRPr sz="1300">
                <a:solidFill>
                  <a:srgbClr val="3A424F"/>
                </a:solidFill>
                <a:latin typeface="Aptos"/>
              </a:defRPr>
            </a:pPr>
            <a:r>
              <a:t>Labeled pairs: 10,472</a:t>
            </a:r>
          </a:p>
          <a:p>
            <a:pPr>
              <a:spcAft>
                <a:spcPts val="800"/>
              </a:spcAft>
              <a:defRPr sz="1300">
                <a:solidFill>
                  <a:srgbClr val="3A424F"/>
                </a:solidFill>
                <a:latin typeface="Aptos"/>
              </a:defRPr>
            </a:pPr>
            <a:r>
              <a:t>Weak labels: 3,927 positives, 2,618 partials, 3,927 negatives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749039"/>
            <a:ext cx="475488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3858767"/>
            <a:ext cx="4462272" cy="25603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700" b="1">
                <a:solidFill>
                  <a:srgbClr val="1A2A44"/>
                </a:solidFill>
                <a:latin typeface="Aptos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4169663"/>
            <a:ext cx="4535424" cy="1335024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A424F"/>
                </a:solidFill>
                <a:latin typeface="Aptos"/>
              </a:defRPr>
            </a:pPr>
            <a:r>
              <a:t>The labels are weakly supervised rather than recruiter-annotated.</a:t>
            </a:r>
          </a:p>
          <a:p>
            <a:pPr>
              <a:spcAft>
                <a:spcPts val="800"/>
              </a:spcAft>
              <a:defRPr sz="1300">
                <a:solidFill>
                  <a:srgbClr val="3A424F"/>
                </a:solidFill>
                <a:latin typeface="Aptos"/>
              </a:defRPr>
            </a:pPr>
            <a:r>
              <a:t>That makes the benchmark reproducible, but it also favours methods that align with explicit lexical and category overlap.</a:t>
            </a:r>
          </a:p>
        </p:txBody>
      </p:sp>
      <p:pic>
        <p:nvPicPr>
          <p:cNvPr id="13" name="Picture 12" descr="dataset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572981"/>
            <a:ext cx="5577840" cy="38034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2560320" cy="82296"/>
          </a:xfrm>
          <a:prstGeom prst="rect">
            <a:avLst/>
          </a:prstGeom>
          <a:solidFill>
            <a:srgbClr val="C77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969264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Methodology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6419088"/>
            <a:ext cx="123444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900" b="0">
                <a:solidFill>
                  <a:srgbClr val="68707A"/>
                </a:solidFill>
                <a:latin typeface="Aptos"/>
              </a:rPr>
              <a:t>BT5153 Group 14  |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972800" cy="502920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3A424F"/>
                </a:solidFill>
                <a:latin typeface="Aptos"/>
              </a:defRPr>
            </a:pPr>
            <a:r>
              <a:t>Step 1: clean raw resume and job text, mask direct identifiers, and normalise each record into a shared category system.</a:t>
            </a:r>
          </a:p>
          <a:p>
            <a:pPr>
              <a:spcAft>
                <a:spcPts val="800"/>
              </a:spcAft>
              <a:defRPr sz="2100">
                <a:solidFill>
                  <a:srgbClr val="3A424F"/>
                </a:solidFill>
                <a:latin typeface="Aptos"/>
              </a:defRPr>
            </a:pPr>
            <a:r>
              <a:t>Step 2: construct weakly supervised resume-job pairs with labels 0, 1, and 2.</a:t>
            </a:r>
          </a:p>
          <a:p>
            <a:pPr>
              <a:spcAft>
                <a:spcPts val="800"/>
              </a:spcAft>
              <a:defRPr sz="2100">
                <a:solidFill>
                  <a:srgbClr val="3A424F"/>
                </a:solidFill>
                <a:latin typeface="Aptos"/>
              </a:defRPr>
            </a:pPr>
            <a:r>
              <a:t>Step 3: evaluate TF-IDF and SBERT on the full held-out test set.</a:t>
            </a:r>
          </a:p>
          <a:p>
            <a:pPr>
              <a:spcAft>
                <a:spcPts val="800"/>
              </a:spcAft>
              <a:defRPr sz="2100">
                <a:solidFill>
                  <a:srgbClr val="3A424F"/>
                </a:solidFill>
                <a:latin typeface="Aptos"/>
              </a:defRPr>
            </a:pPr>
            <a:r>
              <a:t>Step 4: rerank a lexical shortlist with a local LLM across the full held-out test split using a compact JSON prompt.</a:t>
            </a:r>
          </a:p>
          <a:p>
            <a:pPr>
              <a:spcAft>
                <a:spcPts val="800"/>
              </a:spcAft>
              <a:defRPr sz="2100">
                <a:solidFill>
                  <a:srgbClr val="3A424F"/>
                </a:solidFill>
                <a:latin typeface="Aptos"/>
              </a:defRPr>
            </a:pPr>
            <a:r>
              <a:t>Step 5: compare quality, significance, runtime, interpretability, and perturbation-based fairness signals.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2560320" cy="82296"/>
          </a:xfrm>
          <a:prstGeom prst="rect">
            <a:avLst/>
          </a:prstGeom>
          <a:solidFill>
            <a:srgbClr val="C77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969264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Results on the Full Test Split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6419088"/>
            <a:ext cx="123444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900" b="0">
                <a:solidFill>
                  <a:srgbClr val="68707A"/>
                </a:solidFill>
                <a:latin typeface="Aptos"/>
              </a:rPr>
              <a:t>BT5153 Group 14  |  5</a:t>
            </a:r>
          </a:p>
        </p:txBody>
      </p:sp>
      <p:pic>
        <p:nvPicPr>
          <p:cNvPr id="6" name="Picture 5" descr="main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33285"/>
            <a:ext cx="6675120" cy="319259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25880"/>
            <a:ext cx="384048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44383" y="1435608"/>
            <a:ext cx="3547872" cy="25603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700" b="1">
                <a:solidFill>
                  <a:srgbClr val="366E4A"/>
                </a:solidFill>
                <a:latin typeface="Aptos"/>
              </a:rPr>
              <a:t>What changed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7" y="1746504"/>
            <a:ext cx="3621024" cy="1335024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A424F"/>
                </a:solidFill>
                <a:latin typeface="Aptos"/>
              </a:defRPr>
            </a:pPr>
            <a:r>
              <a:t>TF-IDF remains first on precision@10 (0.039) and NDCG@10 (0.132).</a:t>
            </a:r>
          </a:p>
          <a:p>
            <a:pPr>
              <a:spcAft>
                <a:spcPts val="800"/>
              </a:spcAft>
              <a:defRPr sz="1300">
                <a:solidFill>
                  <a:srgbClr val="3A424F"/>
                </a:solidFill>
                <a:latin typeface="Aptos"/>
              </a:defRPr>
            </a:pPr>
            <a:r>
              <a:t>The full-test LLM run is second (0.037, 0.125) and now clearly ahead of SBERT (0.029, 0.100).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3429000"/>
            <a:ext cx="384048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44383" y="3538728"/>
            <a:ext cx="3547872" cy="25603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700" b="1">
                <a:solidFill>
                  <a:srgbClr val="1A2A44"/>
                </a:solidFill>
                <a:latin typeface="Aptos"/>
              </a:rPr>
              <a:t>Reading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07807" y="3849624"/>
            <a:ext cx="3621024" cy="1335024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A424F"/>
                </a:solidFill>
                <a:latin typeface="Aptos"/>
              </a:defRPr>
            </a:pPr>
            <a:r>
              <a:t>The simple lexical baseline is still the full-coverage winner.</a:t>
            </a:r>
          </a:p>
          <a:p>
            <a:pPr>
              <a:spcAft>
                <a:spcPts val="800"/>
              </a:spcAft>
              <a:defRPr sz="1300">
                <a:solidFill>
                  <a:srgbClr val="3A424F"/>
                </a:solidFill>
                <a:latin typeface="Aptos"/>
              </a:defRPr>
            </a:pPr>
            <a:r>
              <a:t>The LLM improves substantially over SBERT, but it still does not displace TF-IDF as the best default first-stage ranker.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2560320" cy="82296"/>
          </a:xfrm>
          <a:prstGeom prst="rect">
            <a:avLst/>
          </a:prstGeom>
          <a:solidFill>
            <a:srgbClr val="C77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969264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Full-Test Significance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6419088"/>
            <a:ext cx="123444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900" b="0">
                <a:solidFill>
                  <a:srgbClr val="68707A"/>
                </a:solidFill>
                <a:latin typeface="Aptos"/>
              </a:rPr>
              <a:t>BT5153 Group 14  |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1325880"/>
            <a:ext cx="3840480" cy="448056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A424F"/>
                </a:solidFill>
                <a:latin typeface="Aptos"/>
              </a:defRPr>
            </a:pPr>
            <a:r>
              <a:t>The full-test bootstrap results show that the LLM significantly outperforms SBERT across precision@10, MRR, and NDCG@10.</a:t>
            </a:r>
          </a:p>
          <a:p>
            <a:pPr>
              <a:spcAft>
                <a:spcPts val="800"/>
              </a:spcAft>
              <a:defRPr sz="1700">
                <a:solidFill>
                  <a:srgbClr val="3A424F"/>
                </a:solidFill>
                <a:latin typeface="Aptos"/>
              </a:defRPr>
            </a:pPr>
            <a:r>
              <a:t>TF-IDF still holds a small but measurable advantage over the LLM on precision@10 and NDCG@10.</a:t>
            </a:r>
          </a:p>
          <a:p>
            <a:pPr>
              <a:spcAft>
                <a:spcPts val="800"/>
              </a:spcAft>
              <a:defRPr sz="1700">
                <a:solidFill>
                  <a:srgbClr val="3A424F"/>
                </a:solidFill>
                <a:latin typeface="Aptos"/>
              </a:defRPr>
            </a:pPr>
            <a:r>
              <a:t>The MRR gap between TF-IDF and the LLM is not statistically significant.</a:t>
            </a:r>
          </a:p>
          <a:p>
            <a:pPr>
              <a:spcAft>
                <a:spcPts val="800"/>
              </a:spcAft>
              <a:defRPr sz="1700">
                <a:solidFill>
                  <a:srgbClr val="3A424F"/>
                </a:solidFill>
                <a:latin typeface="Aptos"/>
              </a:defRPr>
            </a:pPr>
            <a:r>
              <a:t>The right reading is that the LLM is now a stronger second-stage option, not the new first-stage winner.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371600"/>
            <a:ext cx="630936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481328"/>
            <a:ext cx="6016752" cy="25603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700" b="1">
                <a:solidFill>
                  <a:srgbClr val="824F22"/>
                </a:solidFill>
                <a:latin typeface="Aptos"/>
              </a:rPr>
              <a:t>Key full-test deltas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1792224"/>
            <a:ext cx="6089904" cy="3895344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A424F"/>
                </a:solidFill>
                <a:latin typeface="Aptos"/>
              </a:defRPr>
            </a:pPr>
            <a:r>
              <a:t>TF-IDF - LLM precision@10 delta: 0.002</a:t>
            </a:r>
          </a:p>
          <a:p>
            <a:pPr>
              <a:spcAft>
                <a:spcPts val="800"/>
              </a:spcAft>
              <a:defRPr sz="1300">
                <a:solidFill>
                  <a:srgbClr val="3A424F"/>
                </a:solidFill>
                <a:latin typeface="Aptos"/>
              </a:defRPr>
            </a:pPr>
            <a:r>
              <a:t>TF-IDF - LLM NDCG@10 delta: 0.007</a:t>
            </a:r>
          </a:p>
          <a:p>
            <a:pPr>
              <a:spcAft>
                <a:spcPts val="800"/>
              </a:spcAft>
              <a:defRPr sz="1300">
                <a:solidFill>
                  <a:srgbClr val="3A424F"/>
                </a:solidFill>
                <a:latin typeface="Aptos"/>
              </a:defRPr>
            </a:pPr>
            <a:r>
              <a:t>SBERT - LLM NDCG@10 delta: -0.025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2560320" cy="82296"/>
          </a:xfrm>
          <a:prstGeom prst="rect">
            <a:avLst/>
          </a:prstGeom>
          <a:solidFill>
            <a:srgbClr val="C77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969264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Runtime Trade-Off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6419088"/>
            <a:ext cx="123444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900" b="0">
                <a:solidFill>
                  <a:srgbClr val="68707A"/>
                </a:solidFill>
                <a:latin typeface="Aptos"/>
              </a:rPr>
              <a:t>BT5153 Group 14  |  7</a:t>
            </a:r>
          </a:p>
        </p:txBody>
      </p:sp>
      <p:pic>
        <p:nvPicPr>
          <p:cNvPr id="6" name="Picture 5" descr="runtim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95510"/>
            <a:ext cx="6629400" cy="361328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52360" y="1325880"/>
            <a:ext cx="3840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98664" y="1435608"/>
            <a:ext cx="3547872" cy="25603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700" b="1">
                <a:solidFill>
                  <a:srgbClr val="A85D33"/>
                </a:solidFill>
                <a:latin typeface="Aptos"/>
              </a:rPr>
              <a:t>Operational reading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2088" y="1746504"/>
            <a:ext cx="3621024" cy="3986784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A424F"/>
                </a:solidFill>
                <a:latin typeface="Aptos"/>
              </a:defRPr>
            </a:pPr>
            <a:r>
              <a:t>TF-IDF averages 4.3 ms per query.</a:t>
            </a:r>
          </a:p>
          <a:p>
            <a:pPr>
              <a:spcAft>
                <a:spcPts val="800"/>
              </a:spcAft>
              <a:defRPr sz="1300">
                <a:solidFill>
                  <a:srgbClr val="3A424F"/>
                </a:solidFill>
                <a:latin typeface="Aptos"/>
              </a:defRPr>
            </a:pPr>
            <a:r>
              <a:t>SBERT averages 34.6 ms per query in this run.</a:t>
            </a:r>
          </a:p>
          <a:p>
            <a:pPr>
              <a:spcAft>
                <a:spcPts val="800"/>
              </a:spcAft>
              <a:defRPr sz="1300">
                <a:solidFill>
                  <a:srgbClr val="3A424F"/>
                </a:solidFill>
                <a:latin typeface="Aptos"/>
              </a:defRPr>
            </a:pPr>
            <a:r>
              <a:t>The LLM reranker averages 4.1 s per query across all 823 held-out jobs.</a:t>
            </a:r>
          </a:p>
          <a:p>
            <a:pPr>
              <a:spcAft>
                <a:spcPts val="800"/>
              </a:spcAft>
              <a:defRPr sz="1300">
                <a:solidFill>
                  <a:srgbClr val="3A424F"/>
                </a:solidFill>
                <a:latin typeface="Aptos"/>
              </a:defRPr>
            </a:pPr>
            <a:r>
              <a:t>That gap is large enough to change the deployment recommendation.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2560320" cy="82296"/>
          </a:xfrm>
          <a:prstGeom prst="rect">
            <a:avLst/>
          </a:prstGeom>
          <a:solidFill>
            <a:srgbClr val="C77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969264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Interpretability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6419088"/>
            <a:ext cx="123444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900" b="0">
                <a:solidFill>
                  <a:srgbClr val="68707A"/>
                </a:solidFill>
                <a:latin typeface="Aptos"/>
              </a:rPr>
              <a:t>BT5153 Group 14  | 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645920"/>
            <a:ext cx="356616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55648"/>
            <a:ext cx="3273552" cy="25603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700" b="1">
                <a:solidFill>
                  <a:srgbClr val="366E4A"/>
                </a:solidFill>
                <a:latin typeface="Aptos"/>
              </a:rPr>
              <a:t>TF-IDF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66544"/>
            <a:ext cx="3346704" cy="3895344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A424F"/>
                </a:solidFill>
                <a:latin typeface="Aptos"/>
              </a:defRPr>
            </a:pPr>
            <a:r>
              <a:t>Shared skills: accounting, auditing, legal_research, payroll. Top lexical evidence: accounting, finance, accounting finance, financial.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2271" y="1645920"/>
            <a:ext cx="356616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5" y="1755648"/>
            <a:ext cx="3273552" cy="25603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700" b="1">
                <a:solidFill>
                  <a:srgbClr val="1A2A44"/>
                </a:solidFill>
                <a:latin typeface="Aptos"/>
              </a:rPr>
              <a:t>SBERT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99" y="2066544"/>
            <a:ext cx="3346704" cy="3895344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A424F"/>
                </a:solidFill>
                <a:latin typeface="Aptos"/>
              </a:defRPr>
            </a:pPr>
            <a:r>
              <a:t>Shared skills: cooking, logistics, manufacturing. Largest score drops after removal: cooking, logistics, manufacturing.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11310" y="1645920"/>
            <a:ext cx="356616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57614" y="1755648"/>
            <a:ext cx="3273552" cy="25603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700" b="1">
                <a:solidFill>
                  <a:srgbClr val="824F22"/>
                </a:solidFill>
                <a:latin typeface="Aptos"/>
              </a:rPr>
              <a:t>LLM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38" y="2066544"/>
            <a:ext cx="3346704" cy="3895344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A424F"/>
                </a:solidFill>
                <a:latin typeface="Aptos"/>
              </a:defRPr>
            </a:pPr>
            <a:r>
              <a:t>lexical_fallback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2560320" cy="82296"/>
          </a:xfrm>
          <a:prstGeom prst="rect">
            <a:avLst/>
          </a:prstGeom>
          <a:solidFill>
            <a:srgbClr val="C77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969264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Fairness and Robustness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6419088"/>
            <a:ext cx="123444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900" b="0">
                <a:solidFill>
                  <a:srgbClr val="68707A"/>
                </a:solidFill>
                <a:latin typeface="Aptos"/>
              </a:rPr>
              <a:t>BT5153 Group 14  |  9</a:t>
            </a:r>
          </a:p>
        </p:txBody>
      </p:sp>
      <p:pic>
        <p:nvPicPr>
          <p:cNvPr id="6" name="Picture 5" descr="fairness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00989"/>
            <a:ext cx="6217920" cy="38023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0" y="1325880"/>
            <a:ext cx="3840480" cy="448056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A424F"/>
                </a:solidFill>
                <a:latin typeface="Aptos"/>
              </a:defRPr>
            </a:pPr>
            <a:r>
              <a:t>TF-IDF is more stable overall, with mean top-1 change rate 2.3%.</a:t>
            </a:r>
          </a:p>
          <a:p>
            <a:pPr>
              <a:spcAft>
                <a:spcPts val="800"/>
              </a:spcAft>
              <a:defRPr sz="1800">
                <a:solidFill>
                  <a:srgbClr val="3A424F"/>
                </a:solidFill>
                <a:latin typeface="Aptos"/>
              </a:defRPr>
            </a:pPr>
            <a:r>
              <a:t>SBERT is more sensitive under the perturbation probes, with mean top-1 change rate 22.3%.</a:t>
            </a:r>
          </a:p>
          <a:p>
            <a:pPr>
              <a:spcAft>
                <a:spcPts val="800"/>
              </a:spcAft>
              <a:defRPr sz="1800">
                <a:solidFill>
                  <a:srgbClr val="3A424F"/>
                </a:solidFill>
                <a:latin typeface="Aptos"/>
              </a:defRPr>
            </a:pPr>
            <a:r>
              <a:t>These checks should be read as perturbation-based stability tests rather than a full fairness certification.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2560320" cy="82296"/>
          </a:xfrm>
          <a:prstGeom prst="rect">
            <a:avLst/>
          </a:prstGeom>
          <a:solidFill>
            <a:srgbClr val="C77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969264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Business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6419088"/>
            <a:ext cx="123444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900" b="0">
                <a:solidFill>
                  <a:srgbClr val="68707A"/>
                </a:solidFill>
                <a:latin typeface="Aptos"/>
              </a:rPr>
              <a:t>BT5153 Group 14  |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371600"/>
            <a:ext cx="3401568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481328"/>
            <a:ext cx="3108960" cy="25603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700" b="1">
                <a:solidFill>
                  <a:srgbClr val="366E4A"/>
                </a:solidFill>
                <a:latin typeface="Aptos"/>
              </a:rPr>
              <a:t>Recommended default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792224"/>
            <a:ext cx="3182112" cy="3803904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A424F"/>
                </a:solidFill>
                <a:latin typeface="Aptos"/>
              </a:defRPr>
            </a:pPr>
            <a:r>
              <a:t>Use TF-IDF as the first-pass ranking engine.</a:t>
            </a:r>
          </a:p>
          <a:p>
            <a:pPr>
              <a:spcAft>
                <a:spcPts val="800"/>
              </a:spcAft>
              <a:defRPr sz="1300">
                <a:solidFill>
                  <a:srgbClr val="3A424F"/>
                </a:solidFill>
                <a:latin typeface="Aptos"/>
              </a:defRPr>
            </a:pPr>
            <a:r>
              <a:t>It remains the strongest full-test model with NDCG@10 0.132 while staying fast and transparent.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371600"/>
            <a:ext cx="3401568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481328"/>
            <a:ext cx="3108960" cy="25603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700" b="1">
                <a:solidFill>
                  <a:srgbClr val="824F22"/>
                </a:solidFill>
                <a:latin typeface="Aptos"/>
              </a:rPr>
              <a:t>Selective LLM 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7136" y="1792224"/>
            <a:ext cx="3182112" cy="3803904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A424F"/>
                </a:solidFill>
                <a:latin typeface="Aptos"/>
              </a:defRPr>
            </a:pPr>
            <a:r>
              <a:t>Use the local LLM reranker only after shortlist generation.</a:t>
            </a:r>
          </a:p>
          <a:p>
            <a:pPr>
              <a:spcAft>
                <a:spcPts val="800"/>
              </a:spcAft>
              <a:defRPr sz="1300">
                <a:solidFill>
                  <a:srgbClr val="3A424F"/>
                </a:solidFill>
                <a:latin typeface="Aptos"/>
              </a:defRPr>
            </a:pPr>
            <a:r>
              <a:t>It reaches full-test NDCG@10 of 0.125, clearly ahead of SBERT but still slightly behind TF-IDF.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371600"/>
            <a:ext cx="3401568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481328"/>
            <a:ext cx="3108960" cy="25603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700" b="1">
                <a:solidFill>
                  <a:srgbClr val="1A2A44"/>
                </a:solidFill>
                <a:latin typeface="Aptos"/>
              </a:rPr>
              <a:t>Governance need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4736" y="1792224"/>
            <a:ext cx="3182112" cy="3803904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A424F"/>
                </a:solidFill>
                <a:latin typeface="Aptos"/>
              </a:defRPr>
            </a:pPr>
            <a:r>
              <a:t>Keep explanation outputs and perturbation checks in the workflow.</a:t>
            </a:r>
          </a:p>
          <a:p>
            <a:pPr>
              <a:spcAft>
                <a:spcPts val="800"/>
              </a:spcAft>
              <a:defRPr sz="1300">
                <a:solidFill>
                  <a:srgbClr val="3A424F"/>
                </a:solidFill>
                <a:latin typeface="Aptos"/>
              </a:defRPr>
            </a:pPr>
            <a:r>
              <a:t>In a hiring context, interpretability and monitoring are part of the system, not optional extras.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2560320" cy="82296"/>
          </a:xfrm>
          <a:prstGeom prst="rect">
            <a:avLst/>
          </a:prstGeom>
          <a:solidFill>
            <a:srgbClr val="C77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969264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6419088"/>
            <a:ext cx="123444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900" b="0">
                <a:solidFill>
                  <a:srgbClr val="68707A"/>
                </a:solidFill>
                <a:latin typeface="Aptos"/>
              </a:rPr>
              <a:t>BT5153 Group 14  |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07008"/>
            <a:ext cx="10241280" cy="7315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400" b="1">
                <a:solidFill>
                  <a:srgbClr val="1A2A44"/>
                </a:solidFill>
                <a:latin typeface="Aptos"/>
              </a:rPr>
              <a:t>The project does not support a simple 'more complex is better' conclusion. The more defensible recommendation is to keep TF-IDF as the operational baseline and treat LLM reranking as a selective second-stage enhancement.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9966960" cy="297180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3A424F"/>
                </a:solidFill>
                <a:latin typeface="Aptos"/>
              </a:defRPr>
            </a:pPr>
            <a:r>
              <a:t>TF-IDF is the strongest full-coverage model in the current benchmark.</a:t>
            </a:r>
          </a:p>
          <a:p>
            <a:pPr>
              <a:spcAft>
                <a:spcPts val="800"/>
              </a:spcAft>
              <a:defRPr sz="2100">
                <a:solidFill>
                  <a:srgbClr val="3A424F"/>
                </a:solidFill>
                <a:latin typeface="Aptos"/>
              </a:defRPr>
            </a:pPr>
            <a:r>
              <a:t>SBERT does not justify its extra complexity on this weakly supervised setup.</a:t>
            </a:r>
          </a:p>
          <a:p>
            <a:pPr>
              <a:spcAft>
                <a:spcPts val="800"/>
              </a:spcAft>
              <a:defRPr sz="2100">
                <a:solidFill>
                  <a:srgbClr val="3A424F"/>
                </a:solidFill>
                <a:latin typeface="Aptos"/>
              </a:defRPr>
            </a:pPr>
            <a:r>
              <a:t>The LLM reranker is promising, but still too slow and too narrowly validated to become the default ranking engine.</a:t>
            </a:r>
          </a:p>
          <a:p>
            <a:pPr>
              <a:spcAft>
                <a:spcPts val="800"/>
              </a:spcAft>
              <a:defRPr sz="2100">
                <a:solidFill>
                  <a:srgbClr val="3A424F"/>
                </a:solidFill>
                <a:latin typeface="Aptos"/>
              </a:defRPr>
            </a:pPr>
            <a:r>
              <a:t>The final contribution is best read as a comparative BT5153 project under weak supervision, not as a production-ready hiring product.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75D72865F18442B0ED71DBB0445CFF" ma:contentTypeVersion="10" ma:contentTypeDescription="Create a new document." ma:contentTypeScope="" ma:versionID="42fc82e95f6d29231bda4b7fc5d69022">
  <xsd:schema xmlns:xsd="http://www.w3.org/2001/XMLSchema" xmlns:xs="http://www.w3.org/2001/XMLSchema" xmlns:p="http://schemas.microsoft.com/office/2006/metadata/properties" xmlns:ns2="f3486008-00df-4af1-b014-7e321b61fa9d" xmlns:ns3="8e9c4e30-a6f0-42d0-9caf-2a4cb4ad593b" targetNamespace="http://schemas.microsoft.com/office/2006/metadata/properties" ma:root="true" ma:fieldsID="d707057227ed865a14fbba716a55ca16" ns2:_="" ns3:_="">
    <xsd:import namespace="f3486008-00df-4af1-b014-7e321b61fa9d"/>
    <xsd:import namespace="8e9c4e30-a6f0-42d0-9caf-2a4cb4ad593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486008-00df-4af1-b014-7e321b61fa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cca7581-5256-458a-b218-643d9525617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9c4e30-a6f0-42d0-9caf-2a4cb4ad593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ed078d5-13a1-4b38-9095-e049b2a7d496}" ma:internalName="TaxCatchAll" ma:showField="CatchAllData" ma:web="8e9c4e30-a6f0-42d0-9caf-2a4cb4ad593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3486008-00df-4af1-b014-7e321b61fa9d">
      <Terms xmlns="http://schemas.microsoft.com/office/infopath/2007/PartnerControls"/>
    </lcf76f155ced4ddcb4097134ff3c332f>
    <TaxCatchAll xmlns="8e9c4e30-a6f0-42d0-9caf-2a4cb4ad593b" xsi:nil="true"/>
  </documentManagement>
</p:properties>
</file>

<file path=customXml/itemProps1.xml><?xml version="1.0" encoding="utf-8"?>
<ds:datastoreItem xmlns:ds="http://schemas.openxmlformats.org/officeDocument/2006/customXml" ds:itemID="{593A9F00-B817-4EF7-A453-C34F00C2BD35}"/>
</file>

<file path=customXml/itemProps2.xml><?xml version="1.0" encoding="utf-8"?>
<ds:datastoreItem xmlns:ds="http://schemas.openxmlformats.org/officeDocument/2006/customXml" ds:itemID="{8A3D6C36-3514-4138-9740-E6B0FCEA9758}"/>
</file>

<file path=customXml/itemProps3.xml><?xml version="1.0" encoding="utf-8"?>
<ds:datastoreItem xmlns:ds="http://schemas.openxmlformats.org/officeDocument/2006/customXml" ds:itemID="{95BA8461-9340-4BDB-96BC-57697D38A068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0x010100CA75D72865F18442B0ED71DBB0445CFF</vt:lpwstr>
  </property>
  <property fmtid="{D5CDD505-2E9C-101B-9397-08002B2CF9AE}" pid="3" name="MediaServiceImageTags">
    <vt:lpwstr/>
  </property>
</Properties>
</file>